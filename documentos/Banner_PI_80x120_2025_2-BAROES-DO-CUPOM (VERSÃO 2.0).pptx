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5" d="100"/>
          <a:sy n="25" d="100"/>
        </p:scale>
        <p:origin x="1128" y="-2526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Alunos: </a:t>
            </a:r>
            <a:r>
              <a:rPr lang="en-US" sz="3200" b="1" dirty="0"/>
              <a:t>Lucas Oliveira, Matheus </a:t>
            </a:r>
            <a:r>
              <a:rPr lang="en-US" sz="3200" b="1" dirty="0" err="1"/>
              <a:t>Rossaneze</a:t>
            </a:r>
            <a:r>
              <a:rPr lang="en-US" sz="3200" b="1" dirty="0"/>
              <a:t>, Pedro Schaurich Maia, Phelipe Antonio</a:t>
            </a:r>
            <a:endParaRPr lang="pt-BR" sz="3200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Nossa equipe é composta por estudantes do 4º semestre de Ciência da Computação, focados em desenvolver soluções de análise de dados. Neste projeto, todos os integrantes do grupo concentraram-se na engenharia de dados e no backend, garantindo a integridade e o processamento eficiente das informações. Também dedicaram-se ao desenvolvimento do frontend e à criação dos dashboards interativos, buscando a melhor experiência do usuário e a visualização clara dos insights. Trabalhamos colaborativamente para integrar todas as partes do sistema, desde a coleta e tratamento dos dados até a apresentação final dos painéis de controle.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Barões do Cupom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 	  No cenário atual, empresas de cupons e programas de fidelidade enfrentam o desafio de extrair valor dos vastos volumes de dados gerados por transações e interações de usuários. Sem uma análise robusta, é difícil identificar padrões de consumo, otimizar estratégias de marketing, precificação de cupons e repasses, e entender o comportamento do cliente. A falta de ferramentas analíticas eficientes pode levar a decisões subótimas, perda de receita potencial e uma compreensão limitada do impacto das promoções. Além disso, a gestão financeira e estratégica carece de uma visão consolidada para monitorar a performance e tomar decisões baseadas em dados concretos.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400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Solução proposta</a:t>
            </a:r>
          </a:p>
          <a:p>
            <a:pPr algn="just"/>
            <a:r>
              <a:rPr lang="pt-BR" sz="2400" dirty="0"/>
              <a:t>Desenvolvemos um Dashboard interativo utilizando Dash e Python, alimentado por dados de transações, usuários e estabelecimentos. A solução oferece duas perspectivas principais:</a:t>
            </a:r>
          </a:p>
          <a:p>
            <a:pPr algn="just"/>
            <a:r>
              <a:rPr lang="pt-BR" sz="2400" b="1" dirty="0"/>
              <a:t>Visão CEO:</a:t>
            </a:r>
            <a:r>
              <a:rPr lang="pt-BR" sz="2400" dirty="0"/>
              <a:t> Permite uma análise estratégica dos resgates, comportamento dos usuários, categorias de estabelecimentos mais populares e a eficácia de diferentes tipos de cupons. Inclui gráficos de resgates por segmento, dia da semana, </a:t>
            </a:r>
            <a:r>
              <a:rPr lang="pt-BR" sz="2400" dirty="0" err="1"/>
              <a:t>heatmap</a:t>
            </a:r>
            <a:r>
              <a:rPr lang="pt-BR" sz="2400" dirty="0"/>
              <a:t> de atividade por hora e categoria, e distribuição de resgates por faixa etária e tipo de cupom.</a:t>
            </a:r>
          </a:p>
          <a:p>
            <a:pPr algn="just"/>
            <a:r>
              <a:rPr lang="pt-BR" sz="2400" b="1" dirty="0"/>
              <a:t>Visão CFO:</a:t>
            </a:r>
            <a:r>
              <a:rPr lang="pt-BR" sz="2400" dirty="0"/>
              <a:t> Oferece uma análise financeira aprofundada, com KPIs de receita total, receita líquida, margem operacional e ticket médio. Gráficos detalhados mostram a receita por segmento, o relacionamento entre valor do cupom e valor final da compra, o ticket médio por estabelecimento e a distribuição de valores dos cupons.</a:t>
            </a:r>
          </a:p>
          <a:p>
            <a:pPr algn="just"/>
            <a:r>
              <a:rPr lang="pt-BR" sz="2400" dirty="0"/>
              <a:t>Ambas as visões contam com filtros dinâmicos de categoria, tipo de cupom, bairro e período, permitindo uma exploração detalhada dos dados. A funcionalidade de geração de relatórios em PDF consolida as análises para compartilhamento e decisões estratégicas.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168803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400" b="1" kern="0" dirty="0"/>
              <a:t>Professores: </a:t>
            </a:r>
            <a:r>
              <a:rPr lang="pt-BR" sz="2400" b="1" dirty="0"/>
              <a:t>Eduardo </a:t>
            </a:r>
            <a:r>
              <a:rPr lang="pt-BR" sz="2400" b="1" dirty="0" err="1"/>
              <a:t>Savino</a:t>
            </a:r>
            <a:r>
              <a:rPr lang="pt-BR" sz="2400" b="1" dirty="0"/>
              <a:t> Gomes, Lucy Mari </a:t>
            </a:r>
            <a:r>
              <a:rPr lang="pt-BR" sz="2400" b="1" dirty="0" err="1"/>
              <a:t>Tabuti</a:t>
            </a:r>
            <a:r>
              <a:rPr lang="pt-BR" sz="2400" b="1" dirty="0"/>
              <a:t>, </a:t>
            </a:r>
            <a:r>
              <a:rPr lang="pt-BR" sz="2400" b="1" dirty="0" err="1"/>
              <a:t>Rodnil</a:t>
            </a:r>
            <a:r>
              <a:rPr lang="pt-BR" sz="2400" b="1" dirty="0"/>
              <a:t> da Silva Moreira Lisboa, Mauricio Lopes Da Cunha</a:t>
            </a:r>
          </a:p>
          <a:p>
            <a:pPr eaLnBrk="1" hangingPunct="1"/>
            <a:endParaRPr lang="pt-BR" sz="2400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674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2400" b="1" dirty="0">
                <a:ea typeface="ＭＳ Ｐゴシック" pitchFamily="34" charset="-128"/>
              </a:rPr>
              <a:t>Futuro do projeto</a:t>
            </a:r>
          </a:p>
          <a:p>
            <a:pPr algn="just"/>
            <a:r>
              <a:rPr lang="pt-BR" sz="2400" dirty="0"/>
              <a:t>Para o futuro, planejamos expandir as funcionalidades do dashboard com as seguintes melhorias, visando aprimorar ainda mais a capacidade de análise e tomada de decisão:</a:t>
            </a:r>
          </a:p>
          <a:p>
            <a:pPr algn="just"/>
            <a:r>
              <a:rPr lang="pt-BR" sz="2400" b="1" dirty="0"/>
              <a:t>Modelos Preditivos e de Recomendação:</a:t>
            </a:r>
            <a:r>
              <a:rPr lang="pt-BR" sz="2400" dirty="0"/>
              <a:t> Implementar algoritmos de machine learning para identificar tendências futuras, otimizar estratégias de cupons e prever o comportamento do usuário. Essa funcionalidade é crucial para uma abordagem proativa na gestão de campanhas e na antecipação das necessidades do mercado, permitindo decisões mais assertivas e personalizadas.</a:t>
            </a:r>
          </a:p>
          <a:p>
            <a:pPr algn="just"/>
            <a:r>
              <a:rPr lang="pt-BR" sz="2400" b="1" dirty="0"/>
              <a:t>Personalização Avançada do Usuário:</a:t>
            </a:r>
            <a:r>
              <a:rPr lang="pt-BR" sz="2400" dirty="0"/>
              <a:t> Oferecer aos usuários a flexibilidade de personalizar seus próprios painéis de controle, selecionando os gráficos e KPIs mais relevantes para suas funções específicas. Isso democratiza o acesso aos dados e permite que cada usuário obtenha as informações exatas de que precisa para suas responsabilidades diárias, aumentando a eficiência e a relevância do dashboard.</a:t>
            </a:r>
          </a:p>
          <a:p>
            <a:pPr algn="just"/>
            <a:r>
              <a:rPr lang="pt-BR" sz="2400" b="1" dirty="0"/>
              <a:t>Análise de Sentimento e Feedback Qualitativo:</a:t>
            </a:r>
            <a:r>
              <a:rPr lang="pt-BR" sz="2400" dirty="0"/>
              <a:t> Integrar ferramentas de processamento de linguagem natural para analisar o feedback dos usuários e menções em plataformas externas. Compreender o sentimento do cliente é fundamental para medir a satisfação, identificar pontos de dor e direcionar melhorias nos produtos e serviços, complementando a análise quantitativa com insights qualitativos valiosos.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769" y="11634105"/>
            <a:ext cx="2866396" cy="2149796"/>
          </a:xfrm>
          <a:prstGeom prst="rect">
            <a:avLst/>
          </a:prstGeom>
        </p:spPr>
      </p:pic>
      <p:pic>
        <p:nvPicPr>
          <p:cNvPr id="1030" name="Picture 6" descr="Python Logo – PNG e Vetor – Download de Logo">
            <a:extLst>
              <a:ext uri="{FF2B5EF4-FFF2-40B4-BE49-F238E27FC236}">
                <a16:creationId xmlns:a16="http://schemas.microsoft.com/office/drawing/2014/main" id="{199B0405-E2E1-38AC-700C-2F8A875A3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034" y="11567937"/>
            <a:ext cx="2185474" cy="242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lotly Unveils AI-Native Plotly Studio™ and Plotly Cloud™,">
            <a:extLst>
              <a:ext uri="{FF2B5EF4-FFF2-40B4-BE49-F238E27FC236}">
                <a16:creationId xmlns:a16="http://schemas.microsoft.com/office/drawing/2014/main" id="{F50B8618-F5E6-4B37-A189-BB97238A1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2969" y="11494354"/>
            <a:ext cx="2453833" cy="242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uilding a dashboard with Dash (plotly), AWS and Heroku">
            <a:extLst>
              <a:ext uri="{FF2B5EF4-FFF2-40B4-BE49-F238E27FC236}">
                <a16:creationId xmlns:a16="http://schemas.microsoft.com/office/drawing/2014/main" id="{9AE115CB-30EF-D1C2-DC7A-B79C7AD0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2797" y="11293959"/>
            <a:ext cx="2710675" cy="271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andas - NumFOCUS">
            <a:extLst>
              <a:ext uri="{FF2B5EF4-FFF2-40B4-BE49-F238E27FC236}">
                <a16:creationId xmlns:a16="http://schemas.microsoft.com/office/drawing/2014/main" id="{03F26807-1FD8-1481-866B-EA2BA8CF7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9263" y="11275805"/>
            <a:ext cx="2866395" cy="286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df - ícones de arquivos e pastas grátis">
            <a:extLst>
              <a:ext uri="{FF2B5EF4-FFF2-40B4-BE49-F238E27FC236}">
                <a16:creationId xmlns:a16="http://schemas.microsoft.com/office/drawing/2014/main" id="{808401AA-090F-CDB0-4ADD-FF52AA60B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035" y="11487293"/>
            <a:ext cx="2149796" cy="214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62DF8E4-A8A4-8314-1D86-97A29C1F27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724" y="14571894"/>
            <a:ext cx="13170438" cy="586639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F5D1F3-A547-8224-2DD5-3823033B24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6724" y="20737245"/>
            <a:ext cx="13170438" cy="56881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5DE3E08-6443-7012-08B2-A1D446E6CA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9730" y="26759188"/>
            <a:ext cx="13147432" cy="5674535"/>
          </a:xfrm>
          <a:prstGeom prst="rect">
            <a:avLst/>
          </a:prstGeom>
        </p:spPr>
      </p:pic>
      <p:pic>
        <p:nvPicPr>
          <p:cNvPr id="32" name="Picture 31" descr="A graph with blue squares&#10;&#10;AI-generated content may be incorrect.">
            <a:extLst>
              <a:ext uri="{FF2B5EF4-FFF2-40B4-BE49-F238E27FC236}">
                <a16:creationId xmlns:a16="http://schemas.microsoft.com/office/drawing/2014/main" id="{D23432E2-216B-8EE0-B23F-5D684A6BCD8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9228" y="14571893"/>
            <a:ext cx="6523791" cy="4659851"/>
          </a:xfrm>
          <a:prstGeom prst="rect">
            <a:avLst/>
          </a:prstGeom>
        </p:spPr>
      </p:pic>
      <p:pic>
        <p:nvPicPr>
          <p:cNvPr id="34" name="Picture 33" descr="A graph of days of the week&#10;&#10;AI-generated content may be incorrect.">
            <a:extLst>
              <a:ext uri="{FF2B5EF4-FFF2-40B4-BE49-F238E27FC236}">
                <a16:creationId xmlns:a16="http://schemas.microsoft.com/office/drawing/2014/main" id="{C414A915-1FDF-CAA4-C7CA-A5AC390248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5258" y="14571893"/>
            <a:ext cx="4588322" cy="4768464"/>
          </a:xfrm>
          <a:prstGeom prst="rect">
            <a:avLst/>
          </a:prstGeom>
        </p:spPr>
      </p:pic>
      <p:pic>
        <p:nvPicPr>
          <p:cNvPr id="36" name="Picture 35" descr="A purple and yellow rectangles with white text&#10;&#10;AI-generated content may be incorrect.">
            <a:extLst>
              <a:ext uri="{FF2B5EF4-FFF2-40B4-BE49-F238E27FC236}">
                <a16:creationId xmlns:a16="http://schemas.microsoft.com/office/drawing/2014/main" id="{B857EB07-9818-08F8-3203-AB188F63A3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9228" y="19851801"/>
            <a:ext cx="6943725" cy="4286250"/>
          </a:xfrm>
          <a:prstGeom prst="rect">
            <a:avLst/>
          </a:prstGeom>
        </p:spPr>
      </p:pic>
      <p:pic>
        <p:nvPicPr>
          <p:cNvPr id="40" name="Picture 39" descr="A graph of numbers and a number of numbers&#10;&#10;AI-generated content may be incorrect.">
            <a:extLst>
              <a:ext uri="{FF2B5EF4-FFF2-40B4-BE49-F238E27FC236}">
                <a16:creationId xmlns:a16="http://schemas.microsoft.com/office/drawing/2014/main" id="{949A7092-2C68-3043-8509-25AA150F04C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7390" y="19851801"/>
            <a:ext cx="3190875" cy="4286250"/>
          </a:xfrm>
          <a:prstGeom prst="rect">
            <a:avLst/>
          </a:prstGeom>
        </p:spPr>
      </p:pic>
      <p:pic>
        <p:nvPicPr>
          <p:cNvPr id="12" name="Picture 1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4AB514F8-E79A-60DF-6BBE-2F5C9D2B088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652" y="24758108"/>
            <a:ext cx="6111925" cy="790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580D08-C850-4D98-9BB0-6190D1509D8A}">
  <ds:schemaRefs>
    <ds:schemaRef ds:uri="8ca2a57e-8138-4b57-956a-eb6e2c7049cc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1d2798d9-1030-4cc5-be7b-200f9e628651"/>
    <ds:schemaRef ds:uri="http://schemas.microsoft.com/office/2006/documentManagement/typ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770</TotalTime>
  <Words>669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Barões do Cupom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Pedro Maia 24026011</cp:lastModifiedBy>
  <cp:revision>53</cp:revision>
  <dcterms:created xsi:type="dcterms:W3CDTF">2006-11-04T15:46:42Z</dcterms:created>
  <dcterms:modified xsi:type="dcterms:W3CDTF">2025-11-04T16:48:32Z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