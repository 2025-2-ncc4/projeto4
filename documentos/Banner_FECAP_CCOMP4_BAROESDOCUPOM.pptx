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33" d="100"/>
          <a:sy n="33" d="100"/>
        </p:scale>
        <p:origin x="1056" y="-330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US"/>
          </a:p>
        </p:txBody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734" y="0"/>
            <a:ext cx="28774944" cy="43179343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Alunos: </a:t>
            </a:r>
            <a:r>
              <a:rPr lang="en-US" sz="3200" b="1" dirty="0"/>
              <a:t>Lucas Oliveira, Matheus </a:t>
            </a:r>
            <a:r>
              <a:rPr lang="en-US" sz="3200" b="1" dirty="0" err="1"/>
              <a:t>Rossaneze</a:t>
            </a:r>
            <a:r>
              <a:rPr lang="en-US" sz="3200" b="1" dirty="0"/>
              <a:t>, Pedro Schaurich Maia, Phelipe Antonio</a:t>
            </a:r>
            <a:endParaRPr lang="pt-BR" sz="3200" b="1" dirty="0">
              <a:ea typeface="ＭＳ Ｐゴシック" pitchFamily="34" charset="-128"/>
              <a:cs typeface="Times New Roman" pitchFamily="18" charset="0"/>
            </a:endParaRP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39395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2400" b="1" dirty="0">
                <a:ea typeface="ＭＳ Ｐゴシック" pitchFamily="34" charset="-128"/>
              </a:rPr>
              <a:t>Sobre a equipe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	Nossa equipe é composta por estudantes do 4º semestre de Ciência da Computação, focados em desenvolver soluções de análise de dados. Neste projeto, todos os integrantes do grupo concentraram-se na engenharia de dados e no backend, garantindo a integridade e o processamento eficiente das informações. Também dedicaram-se ao desenvolvimento do frontend e à criação dos dashboards interativos, buscando a melhor experiência do usuário e a visualização clara dos insights. Trabalhamos colaborativamente para integrar todas as partes do sistema, desde a coleta e tratamento dos dados até a apresentação final dos painéis de controle.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400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Barões do Cupom</a:t>
            </a: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4462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24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	No cenário atual, empresas de cupons e programas de fidelidade enfrentam o desafio de extrair valor dos vastos volumes de dados gerados por transações e interações de usuários. Sem uma análise robusta, é difícil identificar padrões de consumo, otimizar estratégias de marketing, precificação de cupons e repasses, e entender o comportamento do cliente. A falta de ferramentas analíticas eficientes pode levar a decisões subótimas, perda de receita potencial e uma compreensão limitada do impacto das promoções. Além disso, a gestão financeira e estratégica carece de uma visão consolidada para monitorar a performance e tomar decisões baseadas em dados.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400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2400" b="1" dirty="0">
                <a:ea typeface="ＭＳ Ｐゴシック" pitchFamily="34" charset="-128"/>
              </a:rPr>
              <a:t>Solução proposta</a:t>
            </a:r>
          </a:p>
          <a:p>
            <a:pPr algn="just"/>
            <a:r>
              <a:rPr lang="pt-BR" sz="2400" dirty="0"/>
              <a:t>	Desenvolvemos um Dashboard interativo utilizando Dash e Python, alimentado por dados de transações, usuários e estabelecimentos. A solução oferece duas perspectivas principais: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2400" b="1" dirty="0"/>
              <a:t>Visão CEO:</a:t>
            </a:r>
            <a:r>
              <a:rPr lang="pt-BR" sz="2400" dirty="0"/>
              <a:t> Permite uma análise estratégica dos resgates, comportamento dos usuários, categorias de estabelecimentos mais populares e a eficácia de diferentes tipos de cupons. Inclui gráficos de resgates por segmento, dia da semana, </a:t>
            </a:r>
            <a:r>
              <a:rPr lang="pt-BR" sz="2400" i="1" dirty="0"/>
              <a:t>heatmap</a:t>
            </a:r>
            <a:r>
              <a:rPr lang="pt-BR" sz="2400" dirty="0"/>
              <a:t> de atividade por hora e categoria, e distribuição de resgates por faixa etária e tipo de cupom.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2400" b="1" dirty="0"/>
              <a:t>Visão CFO:</a:t>
            </a:r>
            <a:r>
              <a:rPr lang="pt-BR" sz="2400" dirty="0"/>
              <a:t> Oferece uma análise financeira aprofundada, com KPIs de receita total, receita líquida, margem operacional e ticket médio. Gráficos detalhados mostram a receita por segmento, o relacionamento entre valor do cupom e valor final da compra, o ticket médio por estabelecimento e a distribuição de valores dos cupons.</a:t>
            </a:r>
          </a:p>
          <a:p>
            <a:pPr algn="just"/>
            <a:r>
              <a:rPr lang="pt-BR" sz="2400" dirty="0"/>
              <a:t>	Ambas as visões contam com filtros dinâmicos de categoria, tipo de cupom, bairro e período, permitindo uma exploração detalhada dos dados. A funcionalidade de geração de relatórios em PDF consolida as análises para compartilhamento e decisões estratégicas.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168803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400" b="1" kern="0" dirty="0"/>
              <a:t>Professores: </a:t>
            </a:r>
            <a:r>
              <a:rPr lang="pt-BR" sz="2400" b="1" dirty="0"/>
              <a:t>Eduardo </a:t>
            </a:r>
            <a:r>
              <a:rPr lang="pt-BR" sz="2400" b="1" dirty="0" err="1"/>
              <a:t>Savino</a:t>
            </a:r>
            <a:r>
              <a:rPr lang="pt-BR" sz="2400" b="1" dirty="0"/>
              <a:t> Gomes, Lucy Mari </a:t>
            </a:r>
            <a:r>
              <a:rPr lang="pt-BR" sz="2400" b="1" dirty="0" err="1"/>
              <a:t>Tabuti</a:t>
            </a:r>
            <a:r>
              <a:rPr lang="pt-BR" sz="2400" b="1" dirty="0"/>
              <a:t>, </a:t>
            </a:r>
            <a:r>
              <a:rPr lang="pt-BR" sz="2400" b="1" dirty="0" err="1"/>
              <a:t>Rodnil</a:t>
            </a:r>
            <a:r>
              <a:rPr lang="pt-BR" sz="2400" b="1" dirty="0"/>
              <a:t> da Silva Moreira Lisboa, Mauricio Lopes Da Cunha</a:t>
            </a:r>
          </a:p>
          <a:p>
            <a:pPr eaLnBrk="1" hangingPunct="1"/>
            <a:endParaRPr lang="pt-BR" sz="2400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3318910" cy="67403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2400" b="1" dirty="0">
                <a:ea typeface="ＭＳ Ｐゴシック" pitchFamily="34" charset="-128"/>
              </a:rPr>
              <a:t>Futuro do projeto</a:t>
            </a:r>
          </a:p>
          <a:p>
            <a:pPr algn="just"/>
            <a:r>
              <a:rPr lang="pt-BR" sz="2400" dirty="0"/>
              <a:t>	Para o futuro, planejamos expandir as funcionalidades do dashboard com as seguintes melhorias, visando aprimorar ainda mais a capacidade de análise e tomada de decisão:</a:t>
            </a:r>
          </a:p>
          <a:p>
            <a:pPr algn="just"/>
            <a:r>
              <a:rPr lang="pt-BR" sz="2400" b="1" dirty="0"/>
              <a:t>Modelos Preditivos e de Recomendação:</a:t>
            </a:r>
            <a:r>
              <a:rPr lang="pt-BR" sz="2400" dirty="0"/>
              <a:t> Implementar algoritmos de machine learning para identificar tendências futuras, otimizar estratégias de cupons e prever o comportamento do usuário. Essa funcionalidade é crucial para uma abordagem proativa na gestão de campanhas e na antecipação das necessidades do mercado, permitindo decisões mais assertivas e personalizadas.</a:t>
            </a:r>
          </a:p>
          <a:p>
            <a:pPr algn="just"/>
            <a:r>
              <a:rPr lang="pt-BR" sz="2400" b="1" dirty="0"/>
              <a:t>Personalização Avançada do Usuário:</a:t>
            </a:r>
            <a:r>
              <a:rPr lang="pt-BR" sz="2400" dirty="0"/>
              <a:t> Oferecer aos usuários a flexibilidade de personalizar seus próprios painéis de controle, selecionando os gráficos e KPIs mais relevantes para suas funções específicas. Isso democratiza o acesso aos dados e permite que cada usuário obtenha as informações exatas de que precisa para suas responsabilidades diárias, aumentando a eficiência e a relevância do dashboard.</a:t>
            </a:r>
          </a:p>
          <a:p>
            <a:pPr algn="just"/>
            <a:r>
              <a:rPr lang="pt-BR" sz="2400" b="1" dirty="0"/>
              <a:t>Análise de Sentimento e Feedback Qualitativo:</a:t>
            </a:r>
            <a:r>
              <a:rPr lang="pt-BR" sz="2400" dirty="0"/>
              <a:t> Integrar ferramentas de processamento de linguagem natural para analisar o feedback dos usuários e menções em plataformas externas. Compreender o sentimento do cliente é fundamental para medir a satisfação, identificar pontos de dor e direcionar melhorias nos produtos e serviços, complementando a análise quantitativa com insights qualitativos valiosos.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9431" y="10343748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030" name="Picture 6" descr="Python Logo – PNG e Vetor – Download de Logo">
            <a:extLst>
              <a:ext uri="{FF2B5EF4-FFF2-40B4-BE49-F238E27FC236}">
                <a16:creationId xmlns:a16="http://schemas.microsoft.com/office/drawing/2014/main" id="{199B0405-E2E1-38AC-700C-2F8A875A3A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6871" y="11897503"/>
            <a:ext cx="1595516" cy="177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lotly Unveils AI-Native Plotly Studio™ and Plotly Cloud™,">
            <a:extLst>
              <a:ext uri="{FF2B5EF4-FFF2-40B4-BE49-F238E27FC236}">
                <a16:creationId xmlns:a16="http://schemas.microsoft.com/office/drawing/2014/main" id="{F50B8618-F5E6-4B37-A189-BB97238A1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806" y="11823920"/>
            <a:ext cx="1791433" cy="177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andas - NumFOCUS">
            <a:extLst>
              <a:ext uri="{FF2B5EF4-FFF2-40B4-BE49-F238E27FC236}">
                <a16:creationId xmlns:a16="http://schemas.microsoft.com/office/drawing/2014/main" id="{03F26807-1FD8-1481-866B-EA2BA8CF7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52921" y="11737949"/>
            <a:ext cx="2092626" cy="2092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df - ícones de arquivos e pastas grátis">
            <a:extLst>
              <a:ext uri="{FF2B5EF4-FFF2-40B4-BE49-F238E27FC236}">
                <a16:creationId xmlns:a16="http://schemas.microsoft.com/office/drawing/2014/main" id="{808401AA-090F-CDB0-4ADD-FF52AA60B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72409" y="11991102"/>
            <a:ext cx="1569469" cy="156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62DF8E4-A8A4-8314-1D86-97A29C1F27B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6724" y="14571894"/>
            <a:ext cx="13170438" cy="586639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DF5D1F3-A547-8224-2DD5-3823033B240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6724" y="20737245"/>
            <a:ext cx="13170438" cy="568812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5DE3E08-6443-7012-08B2-A1D446E6CA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30" y="26759188"/>
            <a:ext cx="13147432" cy="5674535"/>
          </a:xfrm>
          <a:prstGeom prst="rect">
            <a:avLst/>
          </a:prstGeom>
        </p:spPr>
      </p:pic>
      <p:pic>
        <p:nvPicPr>
          <p:cNvPr id="32" name="Picture 31" descr="A graph with blue squares&#10;&#10;AI-generated content may be incorrect.">
            <a:extLst>
              <a:ext uri="{FF2B5EF4-FFF2-40B4-BE49-F238E27FC236}">
                <a16:creationId xmlns:a16="http://schemas.microsoft.com/office/drawing/2014/main" id="{D23432E2-216B-8EE0-B23F-5D684A6BCD8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9228" y="14571893"/>
            <a:ext cx="6523791" cy="4659851"/>
          </a:xfrm>
          <a:prstGeom prst="rect">
            <a:avLst/>
          </a:prstGeom>
        </p:spPr>
      </p:pic>
      <p:pic>
        <p:nvPicPr>
          <p:cNvPr id="34" name="Picture 33" descr="A graph of days of the week&#10;&#10;AI-generated content may be incorrect.">
            <a:extLst>
              <a:ext uri="{FF2B5EF4-FFF2-40B4-BE49-F238E27FC236}">
                <a16:creationId xmlns:a16="http://schemas.microsoft.com/office/drawing/2014/main" id="{C414A915-1FDF-CAA4-C7CA-A5AC3902482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25258" y="14571893"/>
            <a:ext cx="4588322" cy="4768464"/>
          </a:xfrm>
          <a:prstGeom prst="rect">
            <a:avLst/>
          </a:prstGeom>
        </p:spPr>
      </p:pic>
      <p:pic>
        <p:nvPicPr>
          <p:cNvPr id="36" name="Picture 35" descr="A purple and yellow rectangles with white text&#10;&#10;AI-generated content may be incorrect.">
            <a:extLst>
              <a:ext uri="{FF2B5EF4-FFF2-40B4-BE49-F238E27FC236}">
                <a16:creationId xmlns:a16="http://schemas.microsoft.com/office/drawing/2014/main" id="{B857EB07-9818-08F8-3203-AB188F63A33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9228" y="19851801"/>
            <a:ext cx="6943725" cy="4286250"/>
          </a:xfrm>
          <a:prstGeom prst="rect">
            <a:avLst/>
          </a:prstGeom>
        </p:spPr>
      </p:pic>
      <p:pic>
        <p:nvPicPr>
          <p:cNvPr id="40" name="Picture 39" descr="A graph of numbers and a number of numbers&#10;&#10;AI-generated content may be incorrect.">
            <a:extLst>
              <a:ext uri="{FF2B5EF4-FFF2-40B4-BE49-F238E27FC236}">
                <a16:creationId xmlns:a16="http://schemas.microsoft.com/office/drawing/2014/main" id="{949A7092-2C68-3043-8509-25AA150F04C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7390" y="19851801"/>
            <a:ext cx="3190875" cy="42862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3BCE162-0DE7-49F5-AAC1-49E08808BA2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2059" y="11715583"/>
            <a:ext cx="1963255" cy="1963255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F2B8ADEB-340B-4B69-8D03-966420166AAA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9881" y="11444683"/>
            <a:ext cx="2452009" cy="2452009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9658550D-8CBD-43F2-97C5-868F2C4ABC6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00459" y="12032535"/>
            <a:ext cx="1638487" cy="1638487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1750DFD2-861E-4FD9-AC59-CBB875309199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24276" y="25850505"/>
            <a:ext cx="4963926" cy="5790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Props1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C580D08-C850-4D98-9BB0-6190D1509D8A}">
  <ds:schemaRefs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1d2798d9-1030-4cc5-be7b-200f9e628651"/>
    <ds:schemaRef ds:uri="http://schemas.microsoft.com/office/infopath/2007/PartnerControls"/>
    <ds:schemaRef ds:uri="8ca2a57e-8138-4b57-956a-eb6e2c7049cc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804</TotalTime>
  <Words>672</Words>
  <Application>Microsoft Office PowerPoint</Application>
  <PresentationFormat>Personalizar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ＭＳ Ｐゴシック</vt:lpstr>
      <vt:lpstr>Arial</vt:lpstr>
      <vt:lpstr>Calibri</vt:lpstr>
      <vt:lpstr>Times New Roman</vt:lpstr>
      <vt:lpstr>Design padrão</vt:lpstr>
      <vt:lpstr>Barões do Cupom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Pedro Schaurich Maia</cp:lastModifiedBy>
  <cp:revision>55</cp:revision>
  <dcterms:created xsi:type="dcterms:W3CDTF">2006-11-04T15:46:42Z</dcterms:created>
  <dcterms:modified xsi:type="dcterms:W3CDTF">2025-11-04T23:04:38Z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